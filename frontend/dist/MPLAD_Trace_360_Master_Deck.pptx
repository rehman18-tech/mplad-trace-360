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MPLAD-TRACE 360™</a:t>
            </a:r>
          </a:p>
          <a:p>
            <a:pPr>
              <a:spcBef>
                <a:spcPts val="1000"/>
              </a:spcBef>
              <a:defRPr sz="1700">
                <a:solidFill>
                  <a:srgbClr val="FDBA74"/>
                </a:solidFill>
                <a:latin typeface="Segoe UI"/>
              </a:defRPr>
            </a:pPr>
            <a:r>
              <a:t>Continuous AI Physical Surveillance, Material Quality Verification &amp; Zero Ghost Billing Circuit-Breaker</a:t>
            </a:r>
          </a:p>
          <a:p>
            <a:pPr>
              <a:spcBef>
                <a:spcPts val="15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An Automated Fiscal &amp; Field Intelligence System for Members of Parliament Local Area Development Scheme</a:t>
            </a:r>
          </a:p>
          <a:p>
            <a:pPr>
              <a:spcBef>
                <a:spcPts val="25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SMART INDIA HACKATHON | MoSPI GOVERNANCE TRACK | COMPLETE MASTER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1. HISTORICAL CONTEXT: 30 YEARS OF MPLADS MONITORING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Tracing the evolution from paper Measurement Books (1993) to e-SAKSHI and MPLAD-TRACE 360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29000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Phase 1: Paper Era (1993–2010)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Physical Measurement Books (MB)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Handwritten Measurement Books recorded by junior engineers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Sanction orders routed via physical post with months of transit latency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High frequency of ghost billing and unverified contractor self-claims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VULNERABILITY: Complete opacity; identical works billed under multiple schemes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832" y="1371600"/>
            <a:ext cx="342900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Phase 2: Early Digital (2011–2020)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28600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MPLADS Portal v1.0 (MIS)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Basic tabular MySQL database cataloging sanctioned amounts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Clerical upload of scanned approval PDFs and text progress entries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Zero geotagging, zero EXIF verification, and zero visual evidence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VULNERABILITY: Payments released solely on self-certified numbers without site 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144" y="1371600"/>
            <a:ext cx="3429000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Phase 3: Modern Real Asset Portals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228600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e-SAKSHI (2023–Present)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Central portal for paperless MP recommendations and digital sanctions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Passive data repository: Records entries after funds leave the treasury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Fails in remote rural areas without constant 4G cellular data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VULNERABILITY: Static 2D photos easily spoofed; NO automated payment freeze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2. WHAT IS NEW: 5 BREAKTHROUGH INNOVATIONS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How MPLAD-TRACE 360 transforms passive archiving into active, real-time fiscal enforcement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81328"/>
            <a:ext cx="2926080" cy="64922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Zero Ghost Billing Circuit-Breaker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46304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Automatically halts PFMS escrow payments when physical progress lags financial burn by &gt;15% or status is stalled. Next tranche release locked 🔒 until DC clearance.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59152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2926080" cy="64922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Mandatory 360° Video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450592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Replaces spoofable static photos with live continuous panoramic video recorded in the browser viewfinder with GPS metadata sync &amp; adaptive viewport.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46704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456432"/>
            <a:ext cx="2926080" cy="6492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Construction Material AI Triangulation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438144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Combines CV surface defect filtering, 28-day concrete cube compressive tests (IS 516), and GeM/GST e-Way bill bag volume deficit reconciliation.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34256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443984"/>
            <a:ext cx="2926080" cy="6492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True Offline-First PWA (Airplane Mode)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25696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Designed for remote rural, forest, and tribal belts. Cryptographically stores signed inspections in local IndexedDB; auto-flushes on reconnect.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21808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431536"/>
            <a:ext cx="2926080" cy="64922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Explainable 7-Factor MoSPI Risk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413248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Transparent 0–100 composite risk scoring across 7 pillars (Schedule, Cost, Delta, Evidence, Contractor, Document, Grievances) with 'Why Am I Seeing This?'.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3. COMPLETE MACHINE LEARNING &amp; ALGORITHMIC INVENTORY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The 6 mathematical and ML engines powering continuous automated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Segoe UI"/>
              </a:defRPr>
            </a:pPr>
            <a:r>
              <a:t>1. Structural CV Verifier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ALGORITHM: OpenCV Laplacian Edge Filtering, SSIM, Color Histograms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Detects honeycombing/voids (&gt;5mm), rebar oxidation flaking, and structural milestone similarity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481328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2. Bayesian Delay Predictor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ALGORITHM: Bayesian Milestone Velocity Regression &amp; Historical Lag Heuristics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Projects completion dates, calculating slippage days and probability based on daily velocity and contractor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25780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Segoe UI"/>
              </a:defRPr>
            </a:pPr>
            <a:r>
              <a:t>3. Geospatial Duplicate Engine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ALGORITHM: Spherical Haversine Distance (R=6371km) + Jaccard Token N-Gram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Flags works within 150m-300m with descriptive title similarity to eliminate cross-scheme double dipping.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017520"/>
            <a:ext cx="525780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127248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Segoe UI"/>
              </a:defRPr>
            </a:pPr>
            <a:r>
              <a:t>4. 7-Factor Risk Engine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ALGORITHM: Weighted Multi-Criteria Decision Analysis (MCDA) (0-100 Score)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Aggregates Cost, Schedule, Discrepancy, Evidence, Contractor, Document, and Citizen Grievance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525780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73168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5. Zero Ghost Billing Engine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ALGORITHM: Dynamic Fiscal Discrepancy Gate (Delta = Financial % - Physical %)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Engages automated circuit-breaker if Delta &gt; 15% or status is Stalled; halts PFMS escrow disbursement.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525780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773168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Segoe UI"/>
              </a:defRPr>
            </a:pPr>
            <a:r>
              <a:t>6. NLP Grievance Classifier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Segoe UI"/>
              </a:defRPr>
            </a:pPr>
            <a:r>
              <a:t>ALGORITHM: TF-IDF Vectorizer + Multinomial Naive Bayes / Transformer Routing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Extracts citizen complaint themes, categorizes severity, and routes tickets directly to field engineers.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4. CONSTRUCTION MATERIAL QUALITY TESTING (IS 456 / IS 516)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How software evaluates physical materials without relying on subjective human guessing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2900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Layer 1: Computer Vision Surface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Visual &amp; Texture Algorithms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OpenCV Laplacian Edge Filtering detects concrete honeycombing and void depths exceeding 5mm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Color histogram analysis flags rebar corrosion flaking on exposed tensile steel rebars (&gt;15% oxidation)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Color clustering detects white salt blooming (efflorescence) on newly erected masonry walls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OUTCOME: Replaces manual inspection sheets with mathematical surface defect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70832" y="1371600"/>
            <a:ext cx="342900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Layer 2: Digital Concrete Cube Tests (IS 516)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24028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59669"/>
                </a:solidFill>
                <a:latin typeface="Segoe UI"/>
              </a:defRPr>
            </a:pPr>
            <a:r>
              <a:t>Compressive Testing Machine (CTM)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Mandates physical casting of 150mm x 150mm concrete test cubes during slab and column casting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CTM crushing results logged at 7 days and 28 days (e.g. 24.8 MPa target for M20 concrete)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AI verifies curing curves against IS 456 specification envelope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OUTCOME: Automatically halts payments if 28-day strength drops below 85% of design strength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290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144" y="1371600"/>
            <a:ext cx="3429000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Layer 3: GeM &amp; GST e-Way Bill Reconciliation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224028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Anti-Dilution Supply-Chain Audit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Reconciles theoretical Bill of Quantities (BoQ) volume against verified delivery records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Casting a 3,000 sq.ft hall requires ~450 bags of Grade 43/53 OPC cement and 3.2 tonnes of Fe500D steel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Cross-checks e-Way bills to ensure supplier delivered correct quantity to that exact GPS coordinate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OUTCOME: Uncovers contractor material skimming (e.g. 60% deficit) without laboratory delay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5. FISCAL CIRCUIT-BREAKER: FREEZING &amp; UNFREEZING THRESHOLDS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Mathematical boundaries governing PFMS escrow locks and statutory recovery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  <a:latin typeface="Segoe UI"/>
              </a:defRPr>
            </a:pPr>
            <a:r>
              <a:t>WHEN DOES THE AI FREEZE FUNDS?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🔒 Risk Score ≥ 75 / 100 (CRITICAL)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Engages automatic audit lockout. Milestone releases withheld.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🔒 Ghost Billing Discrepancy &gt; 15%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Financial claim exceeds verified physical progress by &gt;15%.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🔒 Site Flagged as 'STALLED'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Field inspection logs demobilization or prolonged abandonment.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🔒 Material Strength Deficit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28-day concrete cube test falls below 85% of design compressive strength.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🔒 Active Contract Dispute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Unresolved measurement book or rate discrepancy under litigation.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STATUTORY 5-STEP UNFREEZING PROTOCOL</a:t>
            </a:r>
          </a:p>
          <a:p>
            <a:pPr>
              <a:spcBef>
                <a:spcPts val="800"/>
              </a:spcBef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✓ Step 1: Contractor Civil Rectification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Contractor executes physical work on site to catch up with milestone (e.g. from 30% to 75%).</a:t>
            </a:r>
          </a:p>
          <a:p>
            <a:pPr>
              <a:spcBef>
                <a:spcPts val="800"/>
              </a:spcBef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✓ Step 2: Fresh Geotagged Field Re-Inspection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Field Officer re-inspects site, takes hardware GPS lock &amp; mandatory 360° video walkthrough.</a:t>
            </a:r>
          </a:p>
          <a:p>
            <a:pPr>
              <a:spcBef>
                <a:spcPts val="800"/>
              </a:spcBef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✓ Step 3: District Planning Officer (DPO) Review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DPO reviews evidence dossier in 'AI Risk &amp; Anomaly Center' and signs official resolution.</a:t>
            </a:r>
          </a:p>
          <a:p>
            <a:pPr>
              <a:spcBef>
                <a:spcPts val="800"/>
              </a:spcBef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✓ Step 4: Automated AI Score Recalculation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AI recalculates composite risk; score drops below 30 (NORMAL). Red circuit-breaker clears.</a:t>
            </a:r>
          </a:p>
          <a:p>
            <a:pPr>
              <a:spcBef>
                <a:spcPts val="800"/>
              </a:spcBef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✓ Step 5: PFMS Escrow Disbursal Resumed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Payment release button unlocks automatically. Authorized finance officers disburse next tranche.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Segoe UI"/>
              </a:defRPr>
            </a:pPr>
            <a:r>
              <a:t>6. CENTRAL DATABASE AUDIT &amp; QUANTIFIABLE METRICS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All 52 live works audited with 100% mathematical reconciliation across 10 States &amp; 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2545"/>
                </a:solidFill>
                <a:latin typeface="Segoe UI"/>
              </a:defRPr>
            </a:pPr>
            <a:r>
              <a:t>52</a:t>
            </a:r>
          </a:p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Sanctioned Works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10 States / UTs across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371600"/>
            <a:ext cx="256032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7872" y="1463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91C1C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Funds Frozen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Critical / Stalled / Delta &gt;15%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6032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463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Completed Works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100% Physically &amp; Financially Closed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60320" cy="1828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4630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Live AI Alerts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Continuous Surveillance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728655" cy="2651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101800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CORE TAKEAWAY FOR THE EVALUATION JURY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MPLAD-TRACE 360 is not a theoretical prototype or passive MIS dashboard. It is a live, production-ready fiscal enforcement system that integrates hardware-locked camera captures, 360° video walkthroughs, and Indian Standard (IS 516) material cube testing directly into treasury escrow gates.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By shifting public works governance from post-facto audit complaints to real-time automated payment freezes, the platform prevents an estimated ₹300–500 Crores in ghost billing annually while empowering 140+ Crore citizens with transparent, verifiable development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