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SMART INDIA HACKATHON 2026 | MoSPI GOVERNANCE TRACK | MASTER EVALUATION DECK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MPLAD-TRACE 360™</a:t>
            </a:r>
          </a:p>
          <a:p>
            <a:pPr>
              <a:spcAft>
                <a:spcPts val="1200"/>
              </a:spcAft>
              <a:defRPr sz="1700" b="1">
                <a:solidFill>
                  <a:srgbClr val="FED7AA"/>
                </a:solidFill>
                <a:latin typeface="Segoe UI"/>
              </a:defRPr>
            </a:pPr>
            <a:r>
              <a:t>Continuous AI Physical Surveillance, Dual-Cadre Consensus &amp; Zero Ghost Billing Circuit-Breaker</a:t>
            </a:r>
          </a:p>
          <a:p>
            <a:pPr>
              <a:spcAft>
                <a:spcPts val="2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An Autonomous Fiscal, Geospatial &amp; Engineering Surveillance Operating System for the Members of Parliament Local Area Development Scheme (MPLADS).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2423160" cy="1097280"/>
          </a:xfrm>
          <a:prstGeom prst="roundRect">
            <a:avLst/>
          </a:prstGeom>
          <a:solidFill>
            <a:srgbClr val="132D50"/>
          </a:solidFill>
          <a:ln>
            <a:solidFill>
              <a:srgbClr val="1E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52</a:t>
            </a:r>
          </a:p>
          <a:p>
            <a:pPr>
              <a:defRPr sz="950" b="1">
                <a:solidFill>
                  <a:srgbClr val="D97706"/>
                </a:solidFill>
                <a:latin typeface="Segoe UI"/>
              </a:defRPr>
            </a:pPr>
            <a:r>
              <a:t>Sanctioned Works Audited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10 States &amp; UTs Cataloged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5120640"/>
            <a:ext cx="2423160" cy="1097280"/>
          </a:xfrm>
          <a:prstGeom prst="roundRect">
            <a:avLst/>
          </a:prstGeom>
          <a:solidFill>
            <a:srgbClr val="132D50"/>
          </a:solidFill>
          <a:ln>
            <a:solidFill>
              <a:srgbClr val="1E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Δ ≤ 15%</a:t>
            </a:r>
          </a:p>
          <a:p>
            <a:pPr>
              <a:defRPr sz="950" b="1">
                <a:solidFill>
                  <a:srgbClr val="D97706"/>
                </a:solidFill>
                <a:latin typeface="Segoe UI"/>
              </a:defRPr>
            </a:pPr>
            <a:r>
              <a:t>Dual-Inspector Consensus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MoSPI Clause 3.16-A Mandate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5120640"/>
            <a:ext cx="2423160" cy="1097280"/>
          </a:xfrm>
          <a:prstGeom prst="roundRect">
            <a:avLst/>
          </a:prstGeom>
          <a:solidFill>
            <a:srgbClr val="132D50"/>
          </a:solidFill>
          <a:ln>
            <a:solidFill>
              <a:srgbClr val="1E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100%</a:t>
            </a:r>
          </a:p>
          <a:p>
            <a:pPr>
              <a:defRPr sz="950" b="1">
                <a:solidFill>
                  <a:srgbClr val="D97706"/>
                </a:solidFill>
                <a:latin typeface="Segoe UI"/>
              </a:defRPr>
            </a:pPr>
            <a:r>
              <a:t>Zero-Ghost Billing Lock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Autonomous PFMS Escrow Circuit-Breaker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42248" y="5120640"/>
            <a:ext cx="2423160" cy="1097280"/>
          </a:xfrm>
          <a:prstGeom prst="roundRect">
            <a:avLst/>
          </a:prstGeom>
          <a:solidFill>
            <a:srgbClr val="132D50"/>
          </a:solidFill>
          <a:ln>
            <a:solidFill>
              <a:srgbClr val="1E4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100% Offline</a:t>
            </a:r>
          </a:p>
          <a:p>
            <a:pPr>
              <a:defRPr sz="950" b="1">
                <a:solidFill>
                  <a:srgbClr val="D97706"/>
                </a:solidFill>
                <a:latin typeface="Segoe UI"/>
              </a:defRPr>
            </a:pPr>
            <a:r>
              <a:t>Rural Ground Mode PWA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Cryptographic Geotag Watermarking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1. HISTORICAL CONTEXT: 30 YEARS OF MPLADS MONITORING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Tracing the paradigm shift from paper Measurement Books (1993) to Autonomous Fiscal Enforcement 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48463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2267712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1: Paper Era (1993–2010)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67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Physical Measurement Books (MB)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Handwritten physical Measurement Books recorded by junior engineers.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Sanction orders routed via postal mail with months of transit latency.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High frequency of ghost billing and unverified contractor self-claims.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Opacity: Identical works billed under multiple schemes (double-dipping).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371600"/>
            <a:ext cx="2542032" cy="48463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93592" y="1508760"/>
            <a:ext cx="2267712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2: Early Digital (2011–2020)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011680"/>
            <a:ext cx="2267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MPLADS Portal v1.0 (MIS)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46888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Basic tabular MySQL database cataloging sanctioned expenditure amounts.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Clerical upload of scanned sanction approval letters and text progress.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Zero spatial geotagging, zero EXIF verification, and zero visual evidence.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Vulnerability: Payments released solely on self-certified numbers without site proof.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71600"/>
            <a:ext cx="2542032" cy="48463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18504" y="1508760"/>
            <a:ext cx="2267712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3: Real Asset Portals (2023–Present)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011680"/>
            <a:ext cx="2267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e-SAKSHI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46888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Centralized portal for paperless MP recommendations and digital sanctions.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Passive data repository: Records entries after funds have already left the treasury.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High failure rate in rural/tribal belts due to constant 4G cellular dependency.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Vulnerability: Static 2D photos easily spoofed; NO automated payment freeze.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371600"/>
            <a:ext cx="2542032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43416" y="1508760"/>
            <a:ext cx="2267712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Phase 4: Autonomous Era (2026)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2011680"/>
            <a:ext cx="2267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MPLAD-TRACE 360™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46888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Active Fiscal Circuit-Breaker: Halts PFMS escrow if physical lags financial by &gt;15%.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Double-Blind Cross-Cadre Consensus: Two independent engineering cadres audit blindly.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100% Offline PWA: Cryptographically signed evidence stored locally in Ground Outbox.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Zero-Knowledge Whistleblower Drop with direct RBI e-₹ bounty payouts.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2. CORE BREAKTHROUGH INNOVATIONS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How MPLAD-TRACE 360 transforms passive archiving into active, real-time fiscal and physical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3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1. Zero Ghost Billing Circuit-Breaker</a:t>
            </a:r>
          </a:p>
          <a:p>
            <a:pPr>
              <a:spcAft>
                <a:spcPts val="4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DOMAIN: AUTONOMOUS FINANCIAL FIREWALL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Halts PFMS escrow payments automatically when physical execution lags financial burn by &gt;15% or site is stalled.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2. Autonomous Dual-Inspector Cross-Cadre Suite</a:t>
            </a:r>
          </a:p>
          <a:p>
            <a:pPr>
              <a:spcAft>
                <a:spcPts val="4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DOMAIN: MOSPI CLAUSE 3.16-A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Dispatches two independent cadres blindly. Mathematical consensus (Δ ≤ 15%) gates stage progression and payment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3. Statutory 10-Stage Project Lifecycle State Machine</a:t>
            </a:r>
          </a:p>
          <a:p>
            <a:pPr>
              <a:spcAft>
                <a:spcPts val="4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DOMAIN: LIFECYCLE INTEGRITY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Enforces end-to-end statutory milestones from Hon'ble MP recommendation through tender, PBG, to social audit sign-off.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4. Autonomous e-Tender Bidding &amp; Anti-Cartel Oracle</a:t>
            </a:r>
          </a:p>
          <a:p>
            <a:pPr>
              <a:spcAft>
                <a:spcPts val="4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DOMAIN: CPWD / GEM PROCUREMENT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Statutory price floor (&lt; -25% DSR rejected), sealed cryptographic bids, AI viability scoring, and automated L1 contract award.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5. Whistleblower Bounty Marketplace &amp; Zero-Knowledge Drop</a:t>
            </a:r>
          </a:p>
          <a:p>
            <a:pPr>
              <a:spcAft>
                <a:spcPts val="4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DOMAIN: DIRECT CIVIC INCENTIVE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Citizens upload anonymous proof without login. 12-word seed key claim, CVC forensic probe, and 10% bounty via RBI Digital Rupee.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6. Construction Material Quality Testing (IS 456 / IS 516)</a:t>
            </a:r>
          </a:p>
          <a:p>
            <a:pPr>
              <a:spcAft>
                <a:spcPts val="4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DOMAIN: STRUCTURAL SOUNDNESS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Computer vision surface defect filtering + 28-day concrete cube compressive tests + GeM/GST e-Way bill quantity reconciliation.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3. NEW MODULE: AUTONOMOUS DUAL-INSPECTOR CROSS-CADRE CONSENSUS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MoSPI Clause 3.16-A &amp; CVC Section 88 Double-Blind Verification Suite with Mathematical Concordance Gating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4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INSPECTOR 1 (PRIMARY CADRE)</a:t>
            </a:r>
          </a:p>
          <a:p>
            <a:pPr>
              <a:defRPr sz="1500" b="1">
                <a:solidFill>
                  <a:srgbClr val="0B2545"/>
                </a:solidFill>
                <a:latin typeface="Segoe UI"/>
              </a:defRPr>
            </a:pPr>
            <a:r>
              <a:t>Shri R. K. Verma, AEE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Panchayati Raj &amp; Rural Engineering (PRED)</a:t>
            </a:r>
            <a:br/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Statutory Duty: Departmental allocated supervising engineer.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Geofence Lock: Device hardware GPS locked to site within 200m radius.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Physical Evidence: Geotagged photographic proof + 360° video walkthrough.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Reported Metric: Observed physical progress (P1) entered in official log.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Blind Isolation: Officer has zero access to Inspector 2's schedule or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749039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Segoe UI"/>
              </a:defRPr>
            </a:pPr>
            <a:r>
              <a:t>AI CONSENSUS DECISION ENGINE</a:t>
            </a:r>
          </a:p>
          <a:p>
            <a:pPr>
              <a:spcAft>
                <a:spcPts val="1000"/>
              </a:spcAft>
              <a:defRPr sz="1200" b="1">
                <a:solidFill>
                  <a:srgbClr val="0B2545"/>
                </a:solidFill>
                <a:latin typeface="Segoe UI"/>
              </a:defRPr>
            </a:pPr>
            <a:r>
              <a:t>Mathematical Delta Formula:</a:t>
            </a:r>
            <a:br/>
            <a:r>
              <a:t>Δ = | P(Inspector 1) - P(Inspector 2) |</a:t>
            </a:r>
          </a:p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✓ SCENARIO A: CONCORDANCE (Δ ≤ 15%)</a:t>
            </a:r>
          </a:p>
          <a:p>
            <a:pPr>
              <a:spcAft>
                <a:spcPts val="10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Both officers give concordant ground observations.</a:t>
            </a:r>
            <a:br/>
            <a:r>
              <a:t>• Physical progress credited as (P1 + P2)/2 to central ledger.</a:t>
            </a:r>
            <a:br/>
            <a:r>
              <a:t>• Project automatically advances to Stage 9 (Measurement &amp; Bill Passing).</a:t>
            </a:r>
            <a:br/>
            <a:r>
              <a:t>• Running tranche escrow payment unlocked.</a:t>
            </a:r>
          </a:p>
          <a:p>
            <a:pPr>
              <a:defRPr sz="1050" b="1">
                <a:solidFill>
                  <a:srgbClr val="E11D48"/>
                </a:solidFill>
                <a:latin typeface="Segoe UI"/>
              </a:defRPr>
            </a:pPr>
            <a:r>
              <a:t>❌ SCENARIO B: COLLUSION RED ALERT (Δ &gt; 15%)</a:t>
            </a:r>
          </a:p>
          <a:p>
            <a:pPr>
              <a:defRPr sz="900">
                <a:solidFill>
                  <a:srgbClr val="1E293B"/>
                </a:solidFill>
                <a:latin typeface="Segoe UI"/>
              </a:defRPr>
            </a:pPr>
            <a:r>
              <a:t>• Submission automatically rejected by machine.</a:t>
            </a:r>
            <a:br/>
            <a:r>
              <a:t>• Project stage progression strictly FROZEN at Stage 8.</a:t>
            </a:r>
            <a:br/>
            <a:r>
              <a:t>• Measurement Books quarantined under CVC Section 88.</a:t>
            </a:r>
            <a:br/>
            <a:r>
              <a:t>• Contractor disbursement escrow immediately frozen.</a:t>
            </a:r>
            <a:br/>
            <a:r>
              <a:t>• Formal CVC inquiry summons issued to both engineers.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INSPECTOR 2 (BLIND AUDITOR)</a:t>
            </a:r>
          </a:p>
          <a:p>
            <a:pPr>
              <a:defRPr sz="1500" b="1">
                <a:solidFill>
                  <a:srgbClr val="0B2545"/>
                </a:solidFill>
                <a:latin typeface="Segoe UI"/>
              </a:defRPr>
            </a:pPr>
            <a:r>
              <a:t>Smt. K. Sarada, AE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Rural Water Supply &amp; Sanitation (RWSS)</a:t>
            </a:r>
            <a:br/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Statutory Duty: Independent blind cross-cadre technical auditor.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Quarantine: Out-of-cadre assignment prevents local departmental collusion.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Blind Window: Dispatched independently within 48-hour parallel SLA.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Observed Metric: Independent physical progress (P2) logged on site.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Jury Persona Switcher: Allows seamless testing of both cadres on one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4. NEW MODULE: STATUTORY 10-STAGE LIFECYCLE STATE MACHINE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End-to-End Milestone Tracking from Hon'ble MP Recommendation through Tender, PBG Escrow, to Social Audit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5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MP Recommendation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Hon'ble MP proposal letter submitted under MPLADS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37160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481328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1051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Admin Sanction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District Collector administrative approval; baseline geotag 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7160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93792" y="1481328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81051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Technical Sanction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Superintending Engineer vetted DPR &amp; structural cost estimates.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37160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0064" y="1481328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181051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Tender Notification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NIT e-procurement published with itemized Bill of Quantities (BoQ).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37160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46336" y="1481328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181051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Contract Award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L1 contractor selected; 5% Performance Bank Guarantee (PBG) locked.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3950208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27939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Fund Release (Tranche 1)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PFMS treasury gateway dispatches first tranche to project escrow.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384048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17520" y="3950208"/>
            <a:ext cx="82296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7939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Work Commencement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Site handover order, groundbreaking, plinth foundation excavation.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84048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93792" y="3950208"/>
            <a:ext cx="822960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427939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Field Inspection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Geotagged dual cross-cadre audit + 360° video. GATES STAGE 9!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0336" y="384048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70064" y="3950208"/>
            <a:ext cx="82296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427939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Progress &amp; Measurement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Measurement Book (MB) verified and Running Account bill passed.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3840480"/>
            <a:ext cx="2066543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46336" y="3950208"/>
            <a:ext cx="82296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4279392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B2545"/>
                </a:solidFill>
                <a:latin typeface="Segoe UI"/>
              </a:defRPr>
            </a:pPr>
            <a:r>
              <a:t>Completion &amp; Handover</a:t>
            </a:r>
          </a:p>
          <a:p>
            <a:pPr>
              <a:defRPr sz="850">
                <a:solidFill>
                  <a:srgbClr val="1E293B"/>
                </a:solidFill>
                <a:latin typeface="Segoe UI"/>
              </a:defRPr>
            </a:pPr>
            <a:r>
              <a:t>Final social audit sign-off, public commissioning &amp; asset handover.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989320"/>
            <a:ext cx="10728655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8350F"/>
                </a:solidFill>
                <a:latin typeface="Segoe UI"/>
              </a:defRPr>
            </a:pPr>
            <a:r>
              <a:t>CRITICAL STATUTORY GOVERNANCE RULE: Stage 8 (Field Inspection) → Stage 9 (Measurement &amp; Bill Passing) transition is strictly gated by Dual-Inspector Concordance (Δ ≤ 15%). Discrepancies lock progress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5. NEW MODULE: AUTONOMOUS E-TENDER BIDDING &amp; ANTI-CARTEL ORACLE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Procurement Integrity Suite: Statutory Price Floor, Sealed Cryptographic Bids &amp; Automated Collusion Ring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6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508760"/>
            <a:ext cx="2322576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Itemized Bill of Quantities (BoQ)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Standard Schedule of Rates (SOR) itemization (RCC M25 concrete, Fe500D TMT rebar, brick masonry, labor).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Autonomous estimate calculation preventing subjective discretion.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Every unit linked to state civil procurement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322576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Statutory Price Floor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Anti-Predatory Dumping Rule: MoSPI mandates bids below -25% DSR to be rejected as commercially unviable.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Eliminates contractor insolvency, mid-way abandonment, and substandard material substitution.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Example: ₹15.0L estimate has statutory floor of ₹12.75L.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508760"/>
            <a:ext cx="2322576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Sealed Bid Cryptography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Bids remain encrypted and sealed until the 30-minute bidding window countdown expires.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Prevents premature bid leakage, asymmetric information access, and corrupt insider coaching.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Countdown timer visible in real-time on bidder portal.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15984" y="1508760"/>
            <a:ext cx="2322576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Autonomous AI Evaluation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Unseals bids at deadline and benchmarks against CPWD District Schedule of Rates.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BIS Grade-A Viability Scoring (0–100) evaluates financial feasibility.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Cartel Detection: Flags identical IP, coordinated variance clustering, or shared GSTIN rings.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Auto-awards contract to viable L1 contractor with clearance hash.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6. NEW MODULE: WHISTLEBLOWER BOUNTY MARKETPLACE &amp; ZERO-KNOWLEDGE DROP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Encrypted Public Oversight: Anonymous Submissions, Forensic CVC Site Testing &amp; 10% Recovery Bounty via RBI e-₹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7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508760"/>
            <a:ext cx="2322576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1: ZERO-KNOWLEDGE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Anonymous Evidence Submission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Citizens and site insiders submit photographic, video, or document proof of corruption.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Zero registration: No phone numbers, emails, or biometric identifiers required.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End-to-end encrypted drop isolates whistleblower from potential retaliatory harassment.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322576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2: 12-WORD SEED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Cryptographic Claim Key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System automatically generates a 12-word BIP-39 mnemonic seed key (e.g. 'hawk iron river stone cedar flash...').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Cryptographic SHA-256 hash locked in registry.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The seed phrase is the ONLY key to prove ownership and claim the fiscal bounty.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508760"/>
            <a:ext cx="2322576" cy="320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3: FORENSIC CVC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Chief Technical Examiner Investigation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Report dispatched to CVC Chief Technical Examiner (CTE) inspection wing.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Independent engineering team conducts physical core drilling and non-destructive testing.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When fraud is proven, 100% of contractor billing is quarantined and frozen in treasury.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15984" y="1508760"/>
            <a:ext cx="2322576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4: ANONYMOUS BOUNTY PAYOUT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10% Statutory Recovery (Up to ₹5L)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Whistleblower redeems 10% of frozen penalty amount without exposing identity: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  1. RBI Digital Rupee (e-₹ CBDC Voucher)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  2. India Post Cash Voucher (Redeemable at post office)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  3. Anonymous UPI Transaction Bridge.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7. CONSTRUCTION MATERIAL QUALITY TESTING (IS 456 / IS 516)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3-Layer Material Verification: Computer Vision Surface Defect Analytics + Concrete Cube Tests + e-Way Bill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8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Layer 1: Computer Vision Surface Analytics</a:t>
            </a:r>
          </a:p>
          <a:p>
            <a:pPr>
              <a:spcAft>
                <a:spcPts val="1200"/>
              </a:spcAft>
              <a:defRPr sz="950" b="1">
                <a:solidFill>
                  <a:srgbClr val="4F46E5"/>
                </a:solidFill>
                <a:latin typeface="Segoe UI"/>
              </a:defRPr>
            </a:pPr>
            <a:r>
              <a:t>Visual &amp; Texture Deep Inspection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OpenCV Laplacian Edge Filtering: Computes surface variance to detect structural honeycombing and void depths exceeding 5mm.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Color Histogram &amp; HSV Masking: Flags tensile rebar corrosion flaking on exposed column reinforcement (&gt;15% oxidation triggers defect).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Color Clustering (k-Means): Detects white salt efflorescence on newly cast brickwork, indicating contaminated high-salinity water mix.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Outcome: Replaces subjective human guesses with mathematical pixel-level surface defect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29000" cy="48463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Layer 2: Digital Concrete Cube Tests (IS 516)</a:t>
            </a:r>
          </a:p>
          <a:p>
            <a:pPr>
              <a:spcAft>
                <a:spcPts val="1200"/>
              </a:spcAft>
              <a:defRPr sz="950" b="1">
                <a:solidFill>
                  <a:srgbClr val="EA580C"/>
                </a:solidFill>
                <a:latin typeface="Segoe UI"/>
              </a:defRPr>
            </a:pPr>
            <a:r>
              <a:t>Compressive Strength Laboratory Testing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Mandates physical casting of standard 150mm x 150mm concrete test cubes during slab and column pouring.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Calibrated Compressive Testing Machine (CTM) logs crushing load at 7 days and 28 days (e.g. 24.8 MPa target for M20 concrete).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AI checks strength gain curves against statutory IS 456 curing envelopes.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Outcome: Automatically triggers fiscal freeze if 28-day concrete strength falls below 85% of design compressive specification.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29000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55448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Segoe UI"/>
              </a:defRPr>
            </a:pPr>
            <a:r>
              <a:t>Layer 3: GeM &amp; GST e-Way Bill Reconciliation</a:t>
            </a:r>
          </a:p>
          <a:p>
            <a:pPr>
              <a:spcAft>
                <a:spcPts val="12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Anti-Dilution Supply-Chain Forensic Audit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Reconciles theoretical Bill of Quantities (BoQ) volume against verified delivery challans and e-Way bills.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Example: A 3,000 sq.ft hall requires ~450 bags of Grade 43/53 OPC cement and 3.2 tonnes of Fe500D primary steel.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Cross-checks GST invoices to ensure vendor delivered the exact volume to that specific GPS coordinate.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Outcome: Detects contractor material dilution (e.g. 60% cement deficit) before structural failure occurs.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8. COMPLETE MACHINE LEARNING &amp; ALGORITHMIC INVENTORY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The 7 Mathematical, Geodesic &amp; Machine Learning Engines Powering Continuous Autonomous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9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8463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2545"/>
                </a:solidFill>
                <a:latin typeface="Segoe UI"/>
              </a:defRPr>
            </a:pPr>
            <a:r>
              <a:t>1. Structural CV Verifier</a:t>
            </a:r>
          </a:p>
          <a:p>
            <a:pPr>
              <a:spcAft>
                <a:spcPts val="3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ALGORITHM: OpenCV Laplacian Edge Filtering, SSIM, Color Histograms</a:t>
            </a:r>
          </a:p>
          <a:p>
            <a:pPr>
              <a:defRPr sz="900">
                <a:solidFill>
                  <a:srgbClr val="1E293B"/>
                </a:solidFill>
                <a:latin typeface="Segoe UI"/>
              </a:defRPr>
            </a:pPr>
            <a:r>
              <a:t>Detects honeycombing/voids (&gt;5mm), rebar oxidation flaking, and structural milestone similarity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81328"/>
            <a:ext cx="48463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2545"/>
                </a:solidFill>
                <a:latin typeface="Segoe UI"/>
              </a:defRPr>
            </a:pPr>
            <a:r>
              <a:t>2. Bayesian Delay Predictor</a:t>
            </a:r>
          </a:p>
          <a:p>
            <a:pPr>
              <a:spcAft>
                <a:spcPts val="3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ALGORITHM: Bayesian Milestone Velocity Regression &amp; Historical Lag Heuristics</a:t>
            </a:r>
          </a:p>
          <a:p>
            <a:pPr>
              <a:defRPr sz="900">
                <a:solidFill>
                  <a:srgbClr val="1E293B"/>
                </a:solidFill>
                <a:latin typeface="Segoe UI"/>
              </a:defRPr>
            </a:pPr>
            <a:r>
              <a:t>Projects completion dates, calculating slippage days and probability based on daily execution velocity.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81528"/>
            <a:ext cx="48463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2545"/>
                </a:solidFill>
                <a:latin typeface="Segoe UI"/>
              </a:defRPr>
            </a:pPr>
            <a:r>
              <a:t>3. Geospatial Duplicate Engine</a:t>
            </a:r>
          </a:p>
          <a:p>
            <a:pPr>
              <a:spcAft>
                <a:spcPts val="3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ALGORITHM: Spherical Haversine Distance (R=6371km) + Jaccard Token N-Gram</a:t>
            </a:r>
          </a:p>
          <a:p>
            <a:pPr>
              <a:defRPr sz="900">
                <a:solidFill>
                  <a:srgbClr val="1E293B"/>
                </a:solidFill>
                <a:latin typeface="Segoe UI"/>
              </a:defRPr>
            </a:pPr>
            <a:r>
              <a:t>Flags duplicate works within 150m–300m with descriptive title similarity to eliminate cross-scheme double dipping.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81528"/>
            <a:ext cx="48463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2545"/>
                </a:solidFill>
                <a:latin typeface="Segoe UI"/>
              </a:defRPr>
            </a:pPr>
            <a:r>
              <a:t>4. 7-Factor MoSPI Risk Engine</a:t>
            </a:r>
          </a:p>
          <a:p>
            <a:pPr>
              <a:spcAft>
                <a:spcPts val="3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ALGORITHM: Weighted Multi-Criteria Decision Analysis (MCDA) (0–100 Score)</a:t>
            </a:r>
          </a:p>
          <a:p>
            <a:pPr>
              <a:defRPr sz="900">
                <a:solidFill>
                  <a:srgbClr val="1E293B"/>
                </a:solidFill>
                <a:latin typeface="Segoe UI"/>
              </a:defRPr>
            </a:pPr>
            <a:r>
              <a:t>Aggregates Cost, Schedule, Discrepancy, Evidence, Contractor, Document, and Citizen Grievance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81728"/>
            <a:ext cx="48463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2545"/>
                </a:solidFill>
                <a:latin typeface="Segoe UI"/>
              </a:defRPr>
            </a:pPr>
            <a:r>
              <a:t>5. Zero Ghost Billing Engine</a:t>
            </a:r>
          </a:p>
          <a:p>
            <a:pPr>
              <a:spcAft>
                <a:spcPts val="3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ALGORITHM: Dynamic Fiscal Discrepancy Gate (Delta = Financial % - Physical %)</a:t>
            </a:r>
          </a:p>
          <a:p>
            <a:pPr>
              <a:defRPr sz="900">
                <a:solidFill>
                  <a:srgbClr val="1E293B"/>
                </a:solidFill>
                <a:latin typeface="Segoe UI"/>
              </a:defRPr>
            </a:pPr>
            <a:r>
              <a:t>Engages automated circuit-breaker if Delta &gt; 15% or status is Stalled; halts PFMS escrow disbursements.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681728"/>
            <a:ext cx="48463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2545"/>
                </a:solidFill>
                <a:latin typeface="Segoe UI"/>
              </a:defRPr>
            </a:pPr>
            <a:r>
              <a:t>6. Dual-Inspector Consensus Engine</a:t>
            </a:r>
          </a:p>
          <a:p>
            <a:pPr>
              <a:spcAft>
                <a:spcPts val="300"/>
              </a:spcAft>
              <a:defRPr sz="850" b="1">
                <a:solidFill>
                  <a:srgbClr val="EA580C"/>
                </a:solidFill>
                <a:latin typeface="Segoe UI"/>
              </a:defRPr>
            </a:pPr>
            <a:r>
              <a:t>ALGORITHM: Multi-Cadre Discrepancy Gate (Delta = |P1 - P2|)</a:t>
            </a:r>
          </a:p>
          <a:p>
            <a:pPr>
              <a:defRPr sz="900">
                <a:solidFill>
                  <a:srgbClr val="1E293B"/>
                </a:solidFill>
                <a:latin typeface="Segoe UI"/>
              </a:defRPr>
            </a:pPr>
            <a:r>
              <a:t>Enforces MoSPI Clause 3.16-A. Evaluates concordance (Δ ≤ 15%) to unlock next lifecycle stage and release funds.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9. FISCAL CIRCUIT-BREAKER: FREEZING &amp; UNFREEZING PROTOCOLS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Mathematical Boundaries Governing PFMS Escrow Locks and the Statutory 5-Step Recovery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10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11D48"/>
                </a:solidFill>
                <a:latin typeface="Segoe UI"/>
              </a:defRPr>
            </a:pPr>
            <a:r>
              <a:t>WHEN DOES THE AI FREEZE FUNDS?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⛔ Risk Score ≥ 75 / 100 (CRITICAL)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Engages automatic audit lockout. All pending milestone tranches withheld.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⛔ Ghost Billing Discrepancy &gt; 15%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Claimed financial release exceeds verified physical execution by &gt;15%.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⛔ Site Flagged as 'STALLED'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Field inspection confirms prolonged work stoppage, demobilization, or site abandonment.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⛔ Material Strength Deficit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28-day concrete cube compressive test falls below 85% of design target.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⛔ Dual-Inspector Discrepancy &gt; 15%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Inspector 1 vs Inspector 2 divergence exceeds statutory tolerance under CVC Sec 88.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⛔ Active Citizen Defect Liability Claim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36-month DLP violation flagged via 1-click GPS reverse-lookup.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STATUTORY 5-STEP UNFREEZING PROTOCOL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✓ Step 1: Contractor Civil Rectification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Contractor cures defects on site to catch up physical execution with claimed milestone.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✓ Step 2: Fresh Geotagged Field Re-Inspection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Field engineer re-inspects site with mandatory 360° video walkthrough within 200m geofence.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✓ Step 3: District Planning Officer (DPO) Review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DPO scrutinizes evidence dossier in AI Anomaly Center and signs formal digital clearance.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✓ Step 4: Automated AI Score Recalculation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AI recalculates composite risk; score drops below 30 (NORMAL). Red circuit-breaker clears.</a:t>
            </a:r>
          </a:p>
          <a:p>
            <a:pPr>
              <a:defRPr sz="1000" b="1">
                <a:solidFill>
                  <a:srgbClr val="0B2545"/>
                </a:solidFill>
                <a:latin typeface="Segoe UI"/>
              </a:defRPr>
            </a:pPr>
            <a:r>
              <a:t>✓ Step 5: PFMS Escrow Disbursal Resumed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Segoe UI"/>
              </a:defRPr>
            </a:pPr>
            <a:r>
              <a:t>Treasury gateway release unlocks automatically. Finance officers disburse verified tranche.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10. 1-CLICK GPS ASSET REVERSE-LOOKUP &amp; DEFECT LIABILITY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Citizen Smartphone Camera Click Isolates Exact Contractor &amp; Freezes 5% Performance Bank Guarantee (PBG)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11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508760"/>
            <a:ext cx="2322576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1: HARDWARE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Camera &amp; WGS84 GPS Sensor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HTML5 camera viewfinder activates on mobile browser.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Samples hardware GPS chip (WGS84) with ±5m accuracy.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Optical HUD aligns structural crack, cavity, or collapse.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Cryptographic timestamp &amp; coordinates burned into image EXIF bytes.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322576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2: SPATIAL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Haversine Geofence Engine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Spherical Geodesy: d = 2R · arcsin(√(sin²(Δφ/2) + cos φ1 cos φ2 sin²(Δλ/2))).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Queries central MPLADS registry within 200m–3km perimeter.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Disambiguates junction projects by proximity &amp; DLP status.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Resolves exact Project ID &amp; sanction ledger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508760"/>
            <a:ext cx="2322576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3: LEGAL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Contractor &amp; PBG Resolution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Resolves executing contractor profile (e.g. CON-AP-042).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Audits active 36-Month Defect Liability Period (DLP).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Identifies 5% Performance Bank Guarantee (PBG) in escrow.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Tags guarantee record: action_required = 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42032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15984" y="1508760"/>
            <a:ext cx="2322576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STEP 4: AUTO 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1920240"/>
            <a:ext cx="22677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B2545"/>
                </a:solidFill>
                <a:latin typeface="Segoe UI"/>
              </a:defRPr>
            </a:pPr>
            <a:r>
              <a:t>Level-4 Vigilance Trigger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Generates CRITICAL Alert (ALT-DEFECT-XXXXX).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Dispatches statutory 3-day notice to contractor.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Notifies District Collector, SE &amp; CVC Chief Technical Examiner.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  <a:latin typeface="Segoe UI"/>
              </a:defRPr>
            </a:pPr>
            <a:r>
              <a:t>• Citizen tracks forensic audit progress live in tracking HUD.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Segoe UI"/>
              </a:defRPr>
            </a:pPr>
            <a:r>
              <a:t>11. CENTRAL DATABASE AUDIT &amp; PRODUCTION READINESS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All 52 Live Works Audited with 100% Mathematical Reconciliation Across 10 States/UTs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MPLAD-TRACE 360™ • National Public Works Surveillance Intelligence • MoSPI &amp; CVC Guidelines 2026 | Slide 12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  <a:latin typeface="Segoe UI"/>
              </a:defRPr>
            </a:pPr>
            <a:r>
              <a:t>52</a:t>
            </a:r>
          </a:p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Sanctioned Works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10 States / UTs across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1732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11D48"/>
                </a:solidFill>
                <a:latin typeface="Segoe UI"/>
              </a:defRPr>
            </a:pPr>
            <a:r>
              <a:t>24</a:t>
            </a:r>
          </a:p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Funds Frozen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Critical / Stalled / Delta &gt;15%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42032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1732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Completed Works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100% Physically &amp; Financially Closed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42032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41732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Segoe UI"/>
              </a:defRPr>
            </a:pPr>
            <a:r>
              <a:t>24</a:t>
            </a:r>
          </a:p>
          <a:p>
            <a:pPr>
              <a:defRPr sz="1100" b="1">
                <a:solidFill>
                  <a:srgbClr val="0B2545"/>
                </a:solidFill>
                <a:latin typeface="Segoe UI"/>
              </a:defRPr>
            </a:pPr>
            <a:r>
              <a:t>Live AI Alerts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Continuous Surveillance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7286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101800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  <a:latin typeface="Segoe UI"/>
              </a:defRPr>
            </a:pPr>
            <a:r>
              <a:t>CORE TAKEAWAY FOR THE EVALUATION JURY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Production-Ready Architecture: MPLAD-TRACE 360 is not a mockup or wireframe. It is a live, production-grade system with 0 TypeScript compilation errors and a robust FastAPI async backend.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True Paradigm Shift: Previous platforms (MPLADS Portal, e-SAKSHI) operated as passive historical archives. MPLAD-TRACE 360 operates as an active financial and physical circuit-breaker that freezes payment tranches BEFORE funds leave treasury escrow.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Statutory Compliance: Built directly against MoSPI MPLADS Scheme Guidelines 2023, CPWD Works Manual 2024, CVC Technical Audit Directives (Section 88), and IS 456 / IS 516 concrete standards.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End-to-End Governance Suite: Integrates Autonomous Dual-Inspector Cross-Cadre Consensus, 10-Stage Lifecycle State Machine, e-Tender Anti-Cartel Oracle, Whistleblower e-₹ Bounty Drop, and 1-Click GPS Defect Liability Reverse-Lookup.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• Impact at Scale: Safeguards thousands of crores in public infrastructure funds, guaranteeing that every public asset is genuinely verified, structurally sound, and accountable to every citizen.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