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/>
              </a:defRPr>
            </a:pPr>
            <a:r>
              <a:t>MPLAD-TRACE 360™</a:t>
            </a:r>
          </a:p>
          <a:p>
            <a:pPr>
              <a:spcBef>
                <a:spcPts val="1000"/>
              </a:spcBef>
              <a:defRPr sz="1700">
                <a:solidFill>
                  <a:srgbClr val="FDBA74"/>
                </a:solidFill>
                <a:latin typeface="Segoe UI"/>
              </a:defRPr>
            </a:pPr>
            <a:r>
              <a:t>Continuous AI Physical Surveillance, Material Quality Verification &amp; Zero Ghost Billing Circuit-Breaker</a:t>
            </a:r>
          </a:p>
          <a:p>
            <a:pPr>
              <a:spcBef>
                <a:spcPts val="1500"/>
              </a:spcBef>
              <a:defRPr sz="1300">
                <a:solidFill>
                  <a:srgbClr val="CBD5E1"/>
                </a:solidFill>
                <a:latin typeface="Segoe UI"/>
              </a:defRPr>
            </a:pPr>
            <a:r>
              <a:t>An Automated Fiscal &amp; Field Intelligence System for Members of Parliament Local Area Development Scheme</a:t>
            </a:r>
          </a:p>
          <a:p>
            <a:pPr>
              <a:spcBef>
                <a:spcPts val="25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SMART INDIA HACKATHON | MoSPI GOVERNANCE TRACK | COMPLETE MASTER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B2545"/>
                </a:solidFill>
                <a:latin typeface="Segoe UI"/>
              </a:defRPr>
            </a:pPr>
            <a:r>
              <a:t>1. HISTORICAL CONTEXT: 30 YEARS OF MPLADS MONITORING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Tracing the evolution from paper Measurement Books (1993) to e-SAKSHI and MPLAD-TRACE 360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429000" cy="8229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Phase 1: Paper Era (1993–2010)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E3A8A"/>
                </a:solidFill>
                <a:latin typeface="Segoe UI"/>
              </a:defRPr>
            </a:pPr>
            <a:r>
              <a:t>Physical Measurement Books (MB)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Handwritten Measurement Books recorded by junior engineers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Sanction orders routed via physical post with months of transit latency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High frequency of ghost billing and unverified contractor self-claims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VULNERABILITY: Complete opacity; identical works billed under multiple schemes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71600"/>
            <a:ext cx="3429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70832" y="1371600"/>
            <a:ext cx="3429000" cy="8229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Phase 2: Early Digital (2011–2020)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22860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MPLADS Portal v1.0 (MIS)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Basic tabular MySQL database cataloging sanctioned amounts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Clerical upload of scanned approval PDFs and text progress entries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Zero geotagging, zero EXIF verification, and zero visual evidence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VULNERABILITY: Payments released solely on self-certified numbers without site proof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371600"/>
            <a:ext cx="3429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10144" y="1371600"/>
            <a:ext cx="3429000" cy="8229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Phase 3: Modern Real Asset Portals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3024" y="228600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Segoe UI"/>
              </a:defRPr>
            </a:pPr>
            <a:r>
              <a:t>e-SAKSHI (2023–Present)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Central portal for paperless MP recommendations and digital sanctions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Passive data repository: Records entries after funds leave the treasury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Fails in remote rural areas without constant 4G cellular data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VULNERABILITY: Static 2D photos easily spoofed; NO automated payment freeze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B2545"/>
                </a:solidFill>
                <a:latin typeface="Segoe UI"/>
              </a:defRPr>
            </a:pPr>
            <a:r>
              <a:t>2. WHAT IS NEW: 5 BREAKTHROUGH INNOVATIONS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How MPLAD-TRACE 360 transforms passive archiving into active, real-time fiscal enforcement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81328"/>
            <a:ext cx="2926080" cy="649224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1. Zero Ghost Billing Circuit-Breaker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4630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Automatically halts PFMS escrow payments when physical progress lags financial burn by &gt;15% or status is stalled. Next tranche release locked 🔒 until DC clearance.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59152"/>
            <a:ext cx="10728655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468880"/>
            <a:ext cx="2926080" cy="649224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2. Mandatory 360° Video Walkthrough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450592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Replaces spoofable static photos with live continuous panoramic video recorded in the browser viewfinder with GPS metadata sync &amp; adaptive viewport.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46704"/>
            <a:ext cx="10728655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456432"/>
            <a:ext cx="2926080" cy="649224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3. Construction Material AI Triangulation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38144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Combines CV surface defect filtering, 28-day concrete cube compressive tests (IS 516), and GeM/GST e-Way bill bag volume deficit reconciliation.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34256"/>
            <a:ext cx="10728655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443984"/>
            <a:ext cx="2926080" cy="64922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4. True Offline-First PWA (Airplane Mode)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25696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Designed for remote rural, forest, and tribal belts. Cryptographically stores signed inspections in local IndexedDB; auto-flushes on reconnect.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21808"/>
            <a:ext cx="10728655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431536"/>
            <a:ext cx="2926080" cy="649224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5. Explainable 7-Factor MoSPI Risk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413248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Transparent 0–100 composite risk scoring across 7 pillars (Schedule, Cost, Delta, Evidence, Contractor, Document, Grievances) with 'Why Am I Seeing This?'.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B2545"/>
                </a:solidFill>
                <a:latin typeface="Segoe UI"/>
              </a:defRPr>
            </a:pPr>
            <a:r>
              <a:t>3. COMPLETE MACHINE LEARNING &amp; ALGORITHMIC INVENTORY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The 6 mathematical and ML engines powering continuous automated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578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Segoe UI"/>
              </a:defRPr>
            </a:pPr>
            <a:r>
              <a:t>1. Structural CV Verifier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Segoe UI"/>
              </a:defRPr>
            </a:pPr>
            <a:r>
              <a:t>ALGORITHM: OpenCV Laplacian Edge Filtering, SSIM, Color Histograms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Detects honeycombing/voids (&gt;5mm), rebar oxidation flaking, and structural milestone similarity matching.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2578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481328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  <a:latin typeface="Segoe UI"/>
              </a:defRPr>
            </a:pPr>
            <a:r>
              <a:t>2. Bayesian Delay Predictor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Segoe UI"/>
              </a:defRPr>
            </a:pPr>
            <a:r>
              <a:t>ALGORITHM: Bayesian Milestone Velocity Regression &amp; Historical Lag Heuristics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Projects completion dates, calculating slippage days and probability based on daily velocity and contractor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52578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Segoe UI"/>
              </a:defRPr>
            </a:pPr>
            <a:r>
              <a:t>3. Geospatial Duplicate Engine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Segoe UI"/>
              </a:defRPr>
            </a:pPr>
            <a:r>
              <a:t>ALGORITHM: Spherical Haversine Distance (R=6371km) + Jaccard Token N-Gram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Flags works within 150m-300m with descriptive title similarity to eliminate cross-scheme double dipping.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127248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Segoe UI"/>
              </a:defRPr>
            </a:pPr>
            <a:r>
              <a:t>4. 7-Factor Risk Engine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Segoe UI"/>
              </a:defRPr>
            </a:pPr>
            <a:r>
              <a:t>ALGORITHM: Weighted Multi-Criteria Decision Analysis (MCDA) (0-100 Score)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Aggregates Cost, Schedule, Discrepancy, Evidence, Contractor, Document, and Citizen Grievance signals.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52578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  <a:latin typeface="Segoe UI"/>
              </a:defRPr>
            </a:pPr>
            <a:r>
              <a:t>5. Zero Ghost Billing Engine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Segoe UI"/>
              </a:defRPr>
            </a:pPr>
            <a:r>
              <a:t>ALGORITHM: Dynamic Fiscal Discrepancy Gate (Delta = Financial % - Physical %)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Engages automated circuit-breaker if Delta &gt; 15% or status is Stalled; halts PFMS escrow disbursement.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663440"/>
            <a:ext cx="52578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773168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Segoe UI"/>
              </a:defRPr>
            </a:pPr>
            <a:r>
              <a:t>6. NLP Grievance Classifier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Segoe UI"/>
              </a:defRPr>
            </a:pPr>
            <a:r>
              <a:t>ALGORITHM: TF-IDF Vectorizer + Multinomial Naive Bayes / Transformer Routing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Extracts citizen complaint themes, categorizes severity, and routes tickets directly to field engineers.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B2545"/>
                </a:solidFill>
                <a:latin typeface="Segoe UI"/>
              </a:defRPr>
            </a:pPr>
            <a:r>
              <a:t>4. CONSTRUCTION MATERIAL QUALITY TESTING (IS 456 / IS 516)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How software evaluates physical materials without relying on subjective human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429000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Layer 1: Computer Vision Surface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632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1E3A8A"/>
                </a:solidFill>
                <a:latin typeface="Segoe UI"/>
              </a:defRPr>
            </a:pPr>
            <a:r>
              <a:t>Visual &amp; Texture Algorithms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OpenCV Laplacian Edge Filtering detects concrete honeycombing and void depths exceeding 5mm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Color histogram analysis flags rebar corrosion flaking on exposed tensile steel rebars (&gt;15% oxidation)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Color clustering detects white salt blooming (efflorescence) on newly erected masonry walls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OUTCOME: Replaces manual inspection sheets with mathematical surface defect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71600"/>
            <a:ext cx="3429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70832" y="1371600"/>
            <a:ext cx="342900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Layer 2: Digital Concrete Cube Tests (IS 516)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2240280"/>
            <a:ext cx="30632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059669"/>
                </a:solidFill>
                <a:latin typeface="Segoe UI"/>
              </a:defRPr>
            </a:pPr>
            <a:r>
              <a:t>Compressive Testing Machine (CTM)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Mandates physical casting of 150mm x 150mm concrete test cubes during slab and column casting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CTM crushing results logged at 7 days and 28 days (e.g. 24.8 MPa target for M20 concrete)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AI verifies curing curves against IS 456 specification envelope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OUTCOME: Automatically halts payments if 28-day strength drops below 85% of design strength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371600"/>
            <a:ext cx="342900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10144" y="1371600"/>
            <a:ext cx="3429000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Layer 3: GeM &amp; GST e-Way Bill Reconciliation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3024" y="2240280"/>
            <a:ext cx="30632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D97706"/>
                </a:solidFill>
                <a:latin typeface="Segoe UI"/>
              </a:defRPr>
            </a:pPr>
            <a:r>
              <a:t>Anti-Dilution Supply-Chain Audit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Reconciles theoretical Bill of Quantities (BoQ) volume against verified delivery records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Casting a 3,000 sq.ft hall requires ~450 bags of Grade 43/53 OPC cement and 3.2 tonnes of Fe500D steel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Cross-checks e-Way bills to ensure supplier delivered correct quantity to that exact GPS coordinate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  <a:latin typeface="Segoe UI"/>
              </a:defRPr>
            </a:pPr>
            <a:r>
              <a:t>• OUTCOME: Uncovers contractor material skimming (e.g. 60% deficit) without laboratory delay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B2545"/>
                </a:solidFill>
                <a:latin typeface="Segoe UI"/>
              </a:defRPr>
            </a:pPr>
            <a:r>
              <a:t>5. FISCAL CIRCUIT-BREAKER: FREEZING &amp; UNFREEZING THRESHOLDS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Mathematical boundaries governing PFMS escrow locks and statutory recovery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Segoe UI"/>
              </a:defRPr>
            </a:pPr>
            <a:r>
              <a:t>WHEN DOES THE AI FREEZE FUNDS?</a:t>
            </a:r>
          </a:p>
          <a:p>
            <a:pPr>
              <a:spcBef>
                <a:spcPts val="8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🔒 Risk Score ≥ 75 / 100 (CRITICAL)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Engages automatic audit lockout. Milestone releases withheld.</a:t>
            </a:r>
          </a:p>
          <a:p>
            <a:pPr>
              <a:spcBef>
                <a:spcPts val="8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🔒 Ghost Billing Discrepancy &gt; 15%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Financial claim exceeds verified physical progress by &gt;15%.</a:t>
            </a:r>
          </a:p>
          <a:p>
            <a:pPr>
              <a:spcBef>
                <a:spcPts val="8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🔒 Site Flagged as 'STALLED'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Field inspection logs demobilization or prolonged abandonment.</a:t>
            </a:r>
          </a:p>
          <a:p>
            <a:pPr>
              <a:spcBef>
                <a:spcPts val="8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🔒 Material Strength Deficit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28-day concrete cube test falls below 85% of design compressive strength.</a:t>
            </a:r>
          </a:p>
          <a:p>
            <a:pPr>
              <a:spcBef>
                <a:spcPts val="8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🔒 Active Contract Dispute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Unresolved measurement book or rate discrepancy under litigation.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Segoe UI"/>
              </a:defRPr>
            </a:pPr>
            <a:r>
              <a:t>STATUTORY 5-STEP UNFREEZING PROTOCOL</a:t>
            </a:r>
          </a:p>
          <a:p>
            <a:pPr>
              <a:spcBef>
                <a:spcPts val="800"/>
              </a:spcBef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✓ Step 1: Contractor Civil Rectification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Contractor executes physical work on site to catch up with milestone (e.g. from 30% to 75%).</a:t>
            </a:r>
          </a:p>
          <a:p>
            <a:pPr>
              <a:spcBef>
                <a:spcPts val="800"/>
              </a:spcBef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✓ Step 2: Fresh Geotagged Field Re-Inspection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Field Officer re-inspects site, takes hardware GPS lock &amp; mandatory 360° video walkthrough.</a:t>
            </a:r>
          </a:p>
          <a:p>
            <a:pPr>
              <a:spcBef>
                <a:spcPts val="800"/>
              </a:spcBef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✓ Step 3: District Planning Officer (DPO) Review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DPO reviews evidence dossier in 'AI Risk &amp; Anomaly Center' and signs official resolution.</a:t>
            </a:r>
          </a:p>
          <a:p>
            <a:pPr>
              <a:spcBef>
                <a:spcPts val="800"/>
              </a:spcBef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✓ Step 4: Automated AI Score Recalculation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AI recalculates composite risk; score drops below 30 (NORMAL). Red circuit-breaker clears.</a:t>
            </a:r>
          </a:p>
          <a:p>
            <a:pPr>
              <a:spcBef>
                <a:spcPts val="800"/>
              </a:spcBef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✓ Step 5: PFMS Escrow Disbursal Resumed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Payment release button unlocks automatically. Authorized finance officers disburse next tranche.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B2545"/>
                </a:solidFill>
                <a:latin typeface="Segoe UI"/>
              </a:defRPr>
            </a:pPr>
            <a:r>
              <a:t>6. CENTRAL DATABASE AUDIT &amp; QUANTIFIABLE METRICS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All 52 live works audited with 100% mathematical reconciliation across 10 States &amp; UTs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6032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2545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1200" b="1">
                <a:solidFill>
                  <a:srgbClr val="0F172A"/>
                </a:solidFill>
                <a:latin typeface="Segoe UI"/>
              </a:defRPr>
            </a:pPr>
            <a:r>
              <a:t>Sanctioned Works</a:t>
            </a:r>
          </a:p>
          <a:p>
            <a:pPr algn="ctr">
              <a:defRPr sz="900">
                <a:solidFill>
                  <a:srgbClr val="64748B"/>
                </a:solidFill>
                <a:latin typeface="Segoe UI"/>
              </a:defRPr>
            </a:pPr>
            <a:r>
              <a:t>10 States / UTs across India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371600"/>
            <a:ext cx="256032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7872" y="14630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B91C1C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Funds Frozen</a:t>
            </a:r>
          </a:p>
          <a:p>
            <a:pPr algn="ctr">
              <a:defRPr sz="900">
                <a:solidFill>
                  <a:srgbClr val="64748B"/>
                </a:solidFill>
                <a:latin typeface="Segoe UI"/>
              </a:defRPr>
            </a:pPr>
            <a:r>
              <a:t>Critical / Stalled / Delta &gt;15%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6032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72784" y="14630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Completed Works</a:t>
            </a:r>
          </a:p>
          <a:p>
            <a:pPr algn="ctr">
              <a:defRPr sz="900">
                <a:solidFill>
                  <a:srgbClr val="64748B"/>
                </a:solidFill>
                <a:latin typeface="Segoe UI"/>
              </a:defRPr>
            </a:pPr>
            <a:r>
              <a:t>100% Physically &amp; Financially Closed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371600"/>
            <a:ext cx="256032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97696" y="14630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1200" b="1">
                <a:solidFill>
                  <a:srgbClr val="0F172A"/>
                </a:solidFill>
                <a:latin typeface="Segoe UI"/>
              </a:defRPr>
            </a:pPr>
            <a:r>
              <a:t>Live AI Alerts</a:t>
            </a:r>
          </a:p>
          <a:p>
            <a:pPr algn="ctr">
              <a:defRPr sz="900">
                <a:solidFill>
                  <a:srgbClr val="64748B"/>
                </a:solidFill>
                <a:latin typeface="Segoe UI"/>
              </a:defRPr>
            </a:pPr>
            <a:r>
              <a:t>Continuous Surveillance Monitoring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6160"/>
            <a:ext cx="10728655" cy="2651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49039"/>
            <a:ext cx="101800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Segoe UI"/>
              </a:defRPr>
            </a:pPr>
            <a:r>
              <a:t>CORE TAKEAWAY FOR THE EVALUATION JURY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Segoe UI"/>
              </a:defRPr>
            </a:pPr>
            <a:r>
              <a:t>MPLAD-TRACE 360 is not a theoretical prototype or passive MIS dashboard. It is a live, production-ready fiscal enforcement system that integrates hardware-locked camera captures, 360° video walkthroughs, and Indian Standard (IS 516) material cube testing directly into treasury escrow gates.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  <a:latin typeface="Segoe UI"/>
              </a:defRPr>
            </a:pPr>
            <a:r>
              <a:t>By shifting public works governance from post-facto audit complaints to real-time automated payment freezes, the platform prevents an estimated ₹300–500 Crores in ghost billing annually while empowering 140+ Crore citizens with transparent, verifiable development assets.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1-CLICK GPS ASSET REVERSE-LOOKUP &amp; CONTRACTOR DEFECT LIABILITY</a:t>
            </a:r>
          </a:p>
          <a:p>
            <a:pPr>
              <a:defRPr sz="1100">
                <a:solidFill>
                  <a:srgbClr val="FED7AA"/>
                </a:solidFill>
              </a:defRPr>
            </a:pPr>
            <a:r>
              <a:t>How a single citizen camera click with satellite coordinates automatically isolates the exact contractor &amp; freezes Performance Bank Guarantee (PBG)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2560320" cy="1005840"/>
          </a:xfrm>
          <a:prstGeom prst="round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ED7AA"/>
                </a:solidFill>
              </a:defRPr>
            </a:pPr>
            <a:r>
              <a:t>STEP 1: HARDWARE CAPTURE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Camera &amp; GPS Geotag HUD</a:t>
            </a:r>
          </a:p>
          <a:p>
            <a:pPr>
              <a:defRPr sz="800">
                <a:solidFill>
                  <a:srgbClr val="E0E7FF"/>
                </a:solidFill>
              </a:defRPr>
            </a:pPr>
            <a:r>
              <a:t>Device Hardware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234086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HTML5 navigator.mediaDevices activates real-time viewfinder on mobile/desktop.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Simultaneously samples hardware GPS chip (WGS84 datum) with +/-5m accuracy.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Optical reticle guides citizen to align defect, crack, or collapse inside frame.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Canvas burns cryptographic timestamp &amp; coordinate watermark directly into image bytes.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9856" y="128016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9856" y="1280160"/>
            <a:ext cx="2560320" cy="1005840"/>
          </a:xfrm>
          <a:prstGeom prst="round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ED7AA"/>
                </a:solidFill>
              </a:defRPr>
            </a:pPr>
            <a:r>
              <a:t>STEP 2: SPATIAL MATCHING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Haversine Geofence Engine</a:t>
            </a:r>
          </a:p>
          <a:p>
            <a:pPr>
              <a:defRPr sz="800">
                <a:solidFill>
                  <a:srgbClr val="E0E7FF"/>
                </a:solidFill>
              </a:defRPr>
            </a:pPr>
            <a:r>
              <a:t>Spherical Geodesy Alg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584" y="2331720"/>
            <a:ext cx="234086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Calculates great-circle distance: d = 2R * arcsin(sqrt(sin^2(dlat/2) + ...)).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Queries central MPLADS master registry within 200m to 3km perimeter.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Multi-Project Disambiguation: If multiple works share a junction, sorts by proximity, active DLP period, and visual category match.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Identifies target Project ID, title, and exact sanction ledger instantly.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28016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280160"/>
            <a:ext cx="2560320" cy="100584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ED7AA"/>
                </a:solidFill>
              </a:defRPr>
            </a:pPr>
            <a:r>
              <a:t>STEP 3: LEGAL RESOLUTION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Contractor &amp; PBG Resolution</a:t>
            </a:r>
          </a:p>
          <a:p>
            <a:pPr>
              <a:defRPr sz="800">
                <a:solidFill>
                  <a:srgbClr val="E0E7FF"/>
                </a:solidFill>
              </a:defRPr>
            </a:pPr>
            <a:r>
              <a:t>CPWD Clause 4.2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31720"/>
            <a:ext cx="234086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Extracts executing contractor profile and unique registry ID (e.g. CON-AP-042).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Queries active 36-Month Defect Liability Period (DLP) statutory guarantee.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Computes 5% Performance Bank Guarantee (PBG) in treasury escrow (e.g. Rs. 1,44,000).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Tags guarantee record: action_required = True and logs defect docket reference.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408" y="128016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79408" y="1280160"/>
            <a:ext cx="2560320" cy="1005840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ED7AA"/>
                </a:solidFill>
              </a:defRPr>
            </a:pPr>
            <a:r>
              <a:t>STEP 4: AUTO ESCALATION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Level-4 Vigilance Trigger</a:t>
            </a:r>
          </a:p>
          <a:p>
            <a:pPr>
              <a:defRPr sz="800">
                <a:solidFill>
                  <a:srgbClr val="E0E7FF"/>
                </a:solidFill>
              </a:defRPr>
            </a:pPr>
            <a:r>
              <a:t>Autonomous Circuit-Breaker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331720"/>
            <a:ext cx="234086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Auto-generates CRITICAL Alert (ALT-DEFECT-XXXXX) in surveillance engine.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Directly routed to District Collector, Superintending Engineer &amp; Chief Vigilance Officer.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Triggers 3-day statutory show-cause notice to contractor before PBG forfeiture.</a:t>
            </a:r>
          </a:p>
          <a:p>
            <a:pPr>
              <a:spcAft>
                <a:spcPts val="600"/>
              </a:spcAft>
              <a:defRPr sz="900">
                <a:solidFill>
                  <a:srgbClr val="0F172A"/>
                </a:solidFill>
              </a:defRPr>
            </a:pPr>
            <a:r>
              <a:t>• Citizen &amp; officials can trace real-time 4-step progress via Live Tracking Console.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11535" cy="105156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B2545"/>
                </a:solidFill>
              </a:defRPr>
            </a:pPr>
            <a:r>
              <a:t>THE MATHEMATICAL &amp; STATUTORY FORMULA INVOLVED: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1. Haversine Spatial Geodesy: d = 2R * atan2(sqrt(a), sqrt(1-a)) where a = sin^2(dLat/2) + cos(Lat1)*cos(Lat2)*sin^2(dLon/2) | Earth Radius R = 6,371,000 m.</a:t>
            </a:r>
            <a:br/>
            <a:r>
              <a:t>2. Disambiguation Rank Score: S = (0.50 * ProximityScore) + (0.35 * GuaranteeActiveFlag) + (0.15 * CategoryCosineSimilarity).</a:t>
            </a:r>
            <a:br/>
            <a:r>
              <a:t>3. Statutory Defect Liability: Invoked under CPWD Works Manual 2024 &amp; MoSPI MPLADS Clause 4.2; 5% Performance Bank Guarantee automatically held in escrow.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